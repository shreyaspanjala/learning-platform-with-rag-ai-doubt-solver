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754880" cy="475488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&amp; DISTRIBUTED BACKEND DEVELOPMENT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25CS1302E  ·  Y25, 2026–2027, Trimester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Learning Assistant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00C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 RAG-Based Doubt Solver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5394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Abstract Submission  ·  Section 12  ·  Team 19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Shreyas Panjala   ·   Ch Karthikeya   ·   Abhinav Sunkara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students struggle to get grounded answers from their own course material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27168" cy="3931920"/>
          </a:xfrm>
          <a:prstGeom prst="roundRect">
            <a:avLst>
              <a:gd name="adj" fmla="val 2791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860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350" y="24835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291840"/>
            <a:ext cx="449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Search Falls Short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3931920"/>
            <a:ext cx="44956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keyword-based search often fails when a student's question is phrased differently from the wording used in lecture notes, PDFs, and course material.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24448" y="1920240"/>
            <a:ext cx="5227168" cy="3931920"/>
          </a:xfrm>
          <a:prstGeom prst="roundRect">
            <a:avLst>
              <a:gd name="adj" fmla="val 2791"/>
            </a:avLst>
          </a:prstGeom>
          <a:solidFill>
            <a:srgbClr val="F4F7FE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90208" y="22860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_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718" y="248351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90208" y="3291840"/>
            <a:ext cx="449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Chatbots Aren't Grounded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90208" y="3931920"/>
            <a:ext cx="44956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AI chatbots can generate confident answers that are not actually grounded in the student's specific course content, risking misinformation.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DSEDBD (25CS1302E)  ·  Sec 12  ·  Team 19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943600" cy="594360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Proposed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source-aware AI assistant that answers questions using the student's own documents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6675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8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upload their own course documents and ask natural-language questions about them. The system retrieves the most relevant passages using semantic search, then supplies that content as grounded context to a Large Language Model — so every answer stays tied to the source material, complete with document and page citations where available.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5120640"/>
            <a:ext cx="2231136" cy="457200"/>
          </a:xfrm>
          <a:prstGeom prst="roundRect">
            <a:avLst>
              <a:gd name="adj" fmla="val 50000"/>
            </a:avLst>
          </a:prstGeom>
          <a:solidFill>
            <a:srgbClr val="27306E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12064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Q&amp;A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99816" y="512064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27306E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9816" y="512064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 (RAG)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5120640"/>
            <a:ext cx="2519172" cy="457200"/>
          </a:xfrm>
          <a:prstGeom prst="roundRect">
            <a:avLst>
              <a:gd name="adj" fmla="val 50000"/>
            </a:avLst>
          </a:prstGeom>
          <a:solidFill>
            <a:srgbClr val="27306E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5120640"/>
            <a:ext cx="25191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cited answers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63840" y="1920240"/>
            <a:ext cx="640080" cy="640080"/>
          </a:xfrm>
          <a:prstGeom prst="ellipse">
            <a:avLst/>
          </a:prstGeom>
          <a:solidFill>
            <a:srgbClr val="27306E"/>
          </a:solidFill>
          <a:ln/>
        </p:spPr>
      </p:sp>
      <p:pic>
        <p:nvPicPr>
          <p:cNvPr id="13" name="Image 0" descr="/home/claude/icon_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7459" y="2073859"/>
            <a:ext cx="332842" cy="33284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641080" y="19202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PDFs &amp; course docs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863840" y="2834640"/>
            <a:ext cx="640080" cy="640080"/>
          </a:xfrm>
          <a:prstGeom prst="ellipse">
            <a:avLst/>
          </a:prstGeom>
          <a:solidFill>
            <a:srgbClr val="27306E"/>
          </a:solidFill>
          <a:ln/>
        </p:spPr>
      </p:sp>
      <p:pic>
        <p:nvPicPr>
          <p:cNvPr id="16" name="Image 1" descr="/home/claude/icon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459" y="2988259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64108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 English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863840" y="3749040"/>
            <a:ext cx="640080" cy="640080"/>
          </a:xfrm>
          <a:prstGeom prst="ellipse">
            <a:avLst/>
          </a:prstGeom>
          <a:solidFill>
            <a:srgbClr val="27306E"/>
          </a:solidFill>
          <a:ln/>
        </p:spPr>
      </p:sp>
      <p:pic>
        <p:nvPicPr>
          <p:cNvPr id="19" name="Image 2" descr="/home/claude/icon_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459" y="3902659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41080" y="3749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grounded, cited answers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DSEDBD (25CS1302E)  ·  Sec 12  ·  Team 19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MERN-based application with a JavaScript RAG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487854" cy="3977640"/>
          </a:xfrm>
          <a:prstGeom prst="roundRect">
            <a:avLst>
              <a:gd name="adj" fmla="val 3675"/>
            </a:avLst>
          </a:prstGeom>
          <a:solidFill>
            <a:srgbClr val="F4F7FE"/>
          </a:solidFill>
          <a:ln/>
        </p:spPr>
      </p:sp>
      <p:sp>
        <p:nvSpPr>
          <p:cNvPr id="5" name="Shape 3"/>
          <p:cNvSpPr/>
          <p:nvPr/>
        </p:nvSpPr>
        <p:spPr>
          <a:xfrm>
            <a:off x="1541107" y="2194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699" y="23591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63240"/>
            <a:ext cx="221353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566160"/>
            <a:ext cx="184777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47974" y="1874520"/>
            <a:ext cx="2487854" cy="3977640"/>
          </a:xfrm>
          <a:prstGeom prst="roundRect">
            <a:avLst>
              <a:gd name="adj" fmla="val 3675"/>
            </a:avLst>
          </a:prstGeom>
          <a:solidFill>
            <a:srgbClr val="F4F7FE"/>
          </a:solidFill>
          <a:ln/>
        </p:spPr>
      </p:sp>
      <p:sp>
        <p:nvSpPr>
          <p:cNvPr id="10" name="Shape 7"/>
          <p:cNvSpPr/>
          <p:nvPr/>
        </p:nvSpPr>
        <p:spPr>
          <a:xfrm>
            <a:off x="4349001" y="2194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_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593" y="235915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85134" y="3063240"/>
            <a:ext cx="221353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68014" y="3566160"/>
            <a:ext cx="184777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55868" y="1874520"/>
            <a:ext cx="2487854" cy="3977640"/>
          </a:xfrm>
          <a:prstGeom prst="roundRect">
            <a:avLst>
              <a:gd name="adj" fmla="val 3675"/>
            </a:avLst>
          </a:prstGeom>
          <a:solidFill>
            <a:srgbClr val="F4F7FE"/>
          </a:solidFill>
          <a:ln/>
        </p:spPr>
      </p:sp>
      <p:sp>
        <p:nvSpPr>
          <p:cNvPr id="15" name="Shape 11"/>
          <p:cNvSpPr/>
          <p:nvPr/>
        </p:nvSpPr>
        <p:spPr>
          <a:xfrm>
            <a:off x="7156894" y="2194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486" y="235915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93028" y="3063240"/>
            <a:ext cx="221353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75908" y="3566160"/>
            <a:ext cx="184777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063761" y="1874520"/>
            <a:ext cx="2487854" cy="3977640"/>
          </a:xfrm>
          <a:prstGeom prst="roundRect">
            <a:avLst>
              <a:gd name="adj" fmla="val 3675"/>
            </a:avLst>
          </a:prstGeom>
          <a:solidFill>
            <a:srgbClr val="F4F7FE"/>
          </a:solidFill>
          <a:ln/>
        </p:spPr>
      </p:sp>
      <p:sp>
        <p:nvSpPr>
          <p:cNvPr id="20" name="Shape 15"/>
          <p:cNvSpPr/>
          <p:nvPr/>
        </p:nvSpPr>
        <p:spPr>
          <a:xfrm>
            <a:off x="9964788" y="2194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_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9380" y="235915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00921" y="3063240"/>
            <a:ext cx="221353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RAG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383801" y="3566160"/>
            <a:ext cx="184777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(LLM)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embeddings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vector DB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DSEDBD (25CS1302E)  ·  Sec 12  ·  Team 19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RAG Pipeline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uploaded PDF to a grounded, cited answer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28821" y="2788920"/>
            <a:ext cx="8934054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8781" y="2286000"/>
            <a:ext cx="640080" cy="6400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8781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1977481" cy="2057400"/>
          </a:xfrm>
          <a:prstGeom prst="roundRect">
            <a:avLst>
              <a:gd name="adj" fmla="val 3699"/>
            </a:avLst>
          </a:prstGeom>
          <a:solidFill>
            <a:srgbClr val="F4F7F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3383280"/>
            <a:ext cx="175802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&amp; Chunk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3977640"/>
            <a:ext cx="175802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PDFs are parsed and split into manageable text chunks.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42294" y="2286000"/>
            <a:ext cx="640080" cy="6400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2294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873593" y="3246120"/>
            <a:ext cx="1977481" cy="2057400"/>
          </a:xfrm>
          <a:prstGeom prst="roundRect">
            <a:avLst>
              <a:gd name="adj" fmla="val 3699"/>
            </a:avLst>
          </a:prstGeom>
          <a:solidFill>
            <a:srgbClr val="F4F7FE"/>
          </a:solidFill>
          <a:ln/>
        </p:spPr>
      </p:sp>
      <p:sp>
        <p:nvSpPr>
          <p:cNvPr id="13" name="Text 11"/>
          <p:cNvSpPr/>
          <p:nvPr/>
        </p:nvSpPr>
        <p:spPr>
          <a:xfrm>
            <a:off x="2983321" y="3383280"/>
            <a:ext cx="175802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83321" y="3977640"/>
            <a:ext cx="175802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is converted into a vector embedding capturing its meaning.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75808" y="2286000"/>
            <a:ext cx="640080" cy="6400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75808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07107" y="3246120"/>
            <a:ext cx="1977481" cy="2057400"/>
          </a:xfrm>
          <a:prstGeom prst="roundRect">
            <a:avLst>
              <a:gd name="adj" fmla="val 3699"/>
            </a:avLst>
          </a:prstGeom>
          <a:solidFill>
            <a:srgbClr val="F4F7FE"/>
          </a:solidFill>
          <a:ln/>
        </p:spPr>
      </p:sp>
      <p:sp>
        <p:nvSpPr>
          <p:cNvPr id="18" name="Text 16"/>
          <p:cNvSpPr/>
          <p:nvPr/>
        </p:nvSpPr>
        <p:spPr>
          <a:xfrm>
            <a:off x="5216835" y="3383280"/>
            <a:ext cx="175802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in Pinecone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216835" y="3977640"/>
            <a:ext cx="175802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are stored in a vector database for fast semantic retrieval.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09321" y="2286000"/>
            <a:ext cx="640080" cy="6400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9321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0620" y="3246120"/>
            <a:ext cx="1977481" cy="2057400"/>
          </a:xfrm>
          <a:prstGeom prst="roundRect">
            <a:avLst>
              <a:gd name="adj" fmla="val 3699"/>
            </a:avLst>
          </a:prstGeom>
          <a:solidFill>
            <a:srgbClr val="F4F7FE"/>
          </a:solidFill>
          <a:ln/>
        </p:spPr>
      </p:sp>
      <p:sp>
        <p:nvSpPr>
          <p:cNvPr id="23" name="Text 21"/>
          <p:cNvSpPr/>
          <p:nvPr/>
        </p:nvSpPr>
        <p:spPr>
          <a:xfrm>
            <a:off x="7450348" y="3383280"/>
            <a:ext cx="175802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50348" y="3977640"/>
            <a:ext cx="175802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question, the most relevant chunks are retrieved by similarity.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242834" y="2286000"/>
            <a:ext cx="640080" cy="640080"/>
          </a:xfrm>
          <a:prstGeom prst="ellipse">
            <a:avLst/>
          </a:prstGeom>
          <a:solidFill>
            <a:srgbClr val="00C2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2834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574134" y="3246120"/>
            <a:ext cx="1977481" cy="2057400"/>
          </a:xfrm>
          <a:prstGeom prst="roundRect">
            <a:avLst>
              <a:gd name="adj" fmla="val 3699"/>
            </a:avLst>
          </a:prstGeom>
          <a:solidFill>
            <a:srgbClr val="F4F7FE"/>
          </a:solidFill>
          <a:ln/>
        </p:spPr>
      </p:sp>
      <p:sp>
        <p:nvSpPr>
          <p:cNvPr id="28" name="Text 26"/>
          <p:cNvSpPr/>
          <p:nvPr/>
        </p:nvSpPr>
        <p:spPr>
          <a:xfrm>
            <a:off x="9683862" y="3383280"/>
            <a:ext cx="175802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via Groq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683862" y="3977640"/>
            <a:ext cx="175802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context + question go to an LLM, returning a grounded, cited answer.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DSEDBD (25CS1302E)  ·  Sec 12  ·  Team 19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Integrates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practical engineering skills combined into one academic tool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93338" cy="1691640"/>
          </a:xfrm>
          <a:prstGeom prst="roundRect">
            <a:avLst>
              <a:gd name="adj" fmla="val 5405"/>
            </a:avLst>
          </a:prstGeom>
          <a:solidFill>
            <a:srgbClr val="F4F7F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743" y="233062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30552"/>
            <a:ext cx="225033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Management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00200" y="2587752"/>
            <a:ext cx="22503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Mongoose for application data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99178" y="1965960"/>
            <a:ext cx="3393338" cy="1691640"/>
          </a:xfrm>
          <a:prstGeom prst="roundRect">
            <a:avLst>
              <a:gd name="adj" fmla="val 5405"/>
            </a:avLst>
          </a:prstGeom>
          <a:solidFill>
            <a:srgbClr val="F4F7FE"/>
          </a:solidFill>
          <a:ln/>
        </p:spPr>
      </p:sp>
      <p:sp>
        <p:nvSpPr>
          <p:cNvPr id="10" name="Shape 7"/>
          <p:cNvSpPr/>
          <p:nvPr/>
        </p:nvSpPr>
        <p:spPr>
          <a:xfrm>
            <a:off x="4627778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_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841" y="233062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59298" y="2130552"/>
            <a:ext cx="225033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RESTful Backend Dev.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359298" y="2587752"/>
            <a:ext cx="22503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REST APIs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58277" y="1965960"/>
            <a:ext cx="3393338" cy="1691640"/>
          </a:xfrm>
          <a:prstGeom prst="roundRect">
            <a:avLst>
              <a:gd name="adj" fmla="val 5405"/>
            </a:avLst>
          </a:prstGeom>
          <a:solidFill>
            <a:srgbClr val="F4F7F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86877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_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940" y="233062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18397" y="2130552"/>
            <a:ext cx="225033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Processing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9118397" y="2587752"/>
            <a:ext cx="22503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 and text chunking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393338" cy="1691640"/>
          </a:xfrm>
          <a:prstGeom prst="roundRect">
            <a:avLst>
              <a:gd name="adj" fmla="val 5405"/>
            </a:avLst>
          </a:prstGeom>
          <a:solidFill>
            <a:srgbClr val="F4F7FE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251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_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743" y="438802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187952"/>
            <a:ext cx="225033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Search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600200" y="4645152"/>
            <a:ext cx="22503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Pinecone-powered semantic retrieval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99178" y="4023360"/>
            <a:ext cx="3393338" cy="1691640"/>
          </a:xfrm>
          <a:prstGeom prst="roundRect">
            <a:avLst>
              <a:gd name="adj" fmla="val 5405"/>
            </a:avLst>
          </a:prstGeom>
          <a:solidFill>
            <a:srgbClr val="F4F7FE"/>
          </a:solidFill>
          <a:ln/>
        </p:spPr>
      </p:sp>
      <p:sp>
        <p:nvSpPr>
          <p:cNvPr id="25" name="Shape 19"/>
          <p:cNvSpPr/>
          <p:nvPr/>
        </p:nvSpPr>
        <p:spPr>
          <a:xfrm>
            <a:off x="4627778" y="4251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icon_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3841" y="4388023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59298" y="4187952"/>
            <a:ext cx="225033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Embeddings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359298" y="4645152"/>
            <a:ext cx="22503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representations of course text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58277" y="4023360"/>
            <a:ext cx="3393338" cy="1691640"/>
          </a:xfrm>
          <a:prstGeom prst="roundRect">
            <a:avLst>
              <a:gd name="adj" fmla="val 5405"/>
            </a:avLst>
          </a:prstGeom>
          <a:solidFill>
            <a:srgbClr val="F4F7FE"/>
          </a:solidFill>
          <a:ln/>
        </p:spPr>
      </p:sp>
      <p:sp>
        <p:nvSpPr>
          <p:cNvPr id="30" name="Shape 23"/>
          <p:cNvSpPr/>
          <p:nvPr/>
        </p:nvSpPr>
        <p:spPr>
          <a:xfrm>
            <a:off x="8386877" y="4251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icon_messa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940" y="4388023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18397" y="4187952"/>
            <a:ext cx="225033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LLM-Based Generation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9118397" y="4645152"/>
            <a:ext cx="22503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for grounded, cited responses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DSEDBD (25CS1302E)  ·  Sec 12  ·  Team 19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Details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  ·  Team 19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32378" cy="3291840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/>
        </p:spPr>
      </p:sp>
      <p:sp>
        <p:nvSpPr>
          <p:cNvPr id="5" name="Shape 3"/>
          <p:cNvSpPr/>
          <p:nvPr/>
        </p:nvSpPr>
        <p:spPr>
          <a:xfrm>
            <a:off x="1757629" y="2560320"/>
            <a:ext cx="1097280" cy="1097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922221" y="2724912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6564" y="2909255"/>
            <a:ext cx="399410" cy="3994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977640"/>
            <a:ext cx="30580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Shreyas Panjala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448056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2520080001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29658" y="2103120"/>
            <a:ext cx="3332378" cy="3291840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/>
        </p:spPr>
      </p:sp>
      <p:sp>
        <p:nvSpPr>
          <p:cNvPr id="11" name="Shape 8"/>
          <p:cNvSpPr/>
          <p:nvPr/>
        </p:nvSpPr>
        <p:spPr>
          <a:xfrm>
            <a:off x="5547208" y="2560320"/>
            <a:ext cx="1097280" cy="1097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5711800" y="2724912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143" y="2909255"/>
            <a:ext cx="399410" cy="3994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66818" y="3977640"/>
            <a:ext cx="30580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 Karthikeya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66818" y="448056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2520080022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19237" y="2103120"/>
            <a:ext cx="3332378" cy="3291840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/>
        </p:spPr>
      </p:sp>
      <p:sp>
        <p:nvSpPr>
          <p:cNvPr id="17" name="Shape 13"/>
          <p:cNvSpPr/>
          <p:nvPr/>
        </p:nvSpPr>
        <p:spPr>
          <a:xfrm>
            <a:off x="9336786" y="2560320"/>
            <a:ext cx="1097280" cy="1097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Shape 14"/>
          <p:cNvSpPr/>
          <p:nvPr/>
        </p:nvSpPr>
        <p:spPr>
          <a:xfrm>
            <a:off x="9501378" y="2724912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721" y="2909255"/>
            <a:ext cx="399410" cy="39941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56397" y="3977640"/>
            <a:ext cx="30580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Abhinav Sunkara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356397" y="448056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2520080043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DSEDBD (25CS1302E)  ·  Sec 12  ·  Team 19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474720"/>
            <a:ext cx="5486400" cy="548640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-2286000"/>
            <a:ext cx="5029200" cy="502920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Practical, Source-Aware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Assistant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database management, backend development, document processing,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search, NLP embeddings, and LLM-based generation.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C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DSEDBD (25CS1302E)  ·  Sec 12, Team 19  ·  Shreyas Panjala, Ch Karthikeya, Abhinav Sunkara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2026-08-26T03:13:07Z</dcterms:created>
  <dcterms:modified xsi:type="dcterms:W3CDTF">2026-08-26T03:13:07Z</dcterms:modified>
</cp:coreProperties>
</file>